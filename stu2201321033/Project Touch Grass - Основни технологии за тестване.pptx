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</p:sldIdLst>
  <p:sldSz cy="5143500" cx="9144000"/>
  <p:notesSz cx="6858000" cy="9144000"/>
  <p:embeddedFontLst>
    <p:embeddedFont>
      <p:font typeface="Roboto"/>
      <p:regular r:id="rId9"/>
      <p:bold r:id="rId10"/>
      <p:italic r:id="rId11"/>
      <p:boldItalic r:id="rId12"/>
    </p:embeddedFont>
    <p:embeddedFont>
      <p:font typeface="Montserrat"/>
      <p:regular r:id="rId13"/>
      <p:bold r:id="rId14"/>
      <p:italic r:id="rId15"/>
      <p:boldItalic r:id="rId16"/>
    </p:embeddedFont>
    <p:embeddedFont>
      <p:font typeface="Lato"/>
      <p:regular r:id="rId17"/>
      <p:bold r:id="rId18"/>
      <p:italic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-boldItalic.fntdata"/><Relationship Id="rId11" Type="http://schemas.openxmlformats.org/officeDocument/2006/relationships/font" Target="fonts/Roboto-italic.fntdata"/><Relationship Id="rId10" Type="http://schemas.openxmlformats.org/officeDocument/2006/relationships/font" Target="fonts/Roboto-bold.fntdata"/><Relationship Id="rId13" Type="http://schemas.openxmlformats.org/officeDocument/2006/relationships/font" Target="fonts/Montserrat-regular.fntdata"/><Relationship Id="rId12" Type="http://schemas.openxmlformats.org/officeDocument/2006/relationships/font" Target="fonts/Roboto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font" Target="fonts/Roboto-regular.fntdata"/><Relationship Id="rId15" Type="http://schemas.openxmlformats.org/officeDocument/2006/relationships/font" Target="fonts/Montserrat-italic.fntdata"/><Relationship Id="rId14" Type="http://schemas.openxmlformats.org/officeDocument/2006/relationships/font" Target="fonts/Montserrat-bold.fntdata"/><Relationship Id="rId17" Type="http://schemas.openxmlformats.org/officeDocument/2006/relationships/font" Target="fonts/Lato-regular.fntdata"/><Relationship Id="rId16" Type="http://schemas.openxmlformats.org/officeDocument/2006/relationships/font" Target="fonts/Montserrat-boldItalic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Lato-italic.fntdata"/><Relationship Id="rId6" Type="http://schemas.openxmlformats.org/officeDocument/2006/relationships/slide" Target="slides/slide1.xml"/><Relationship Id="rId18" Type="http://schemas.openxmlformats.org/officeDocument/2006/relationships/font" Target="fonts/Lato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b955e69620_0_1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b955e69620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b955e69620_0_1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b955e69620_0_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fmla="val 0" name="adj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b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" name="Google Shape;39;p3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" name="Google Shape;4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b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" name="Google Shape;46;p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7" name="Google Shape;4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b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3" name="Google Shape;53;p5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5"/>
          <p:cNvSpPr txBox="1"/>
          <p:nvPr>
            <p:ph idx="2" type="body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b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" name="Google Shape;60;p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1" name="Google Shape;6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b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7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7" name="Google Shape;67;p7"/>
          <p:cNvSpPr txBox="1"/>
          <p:nvPr>
            <p:ph idx="1" type="body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b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" name="Google Shape;89;p8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" name="Google Shape;9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b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9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6" name="Google Shape;96;p9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97" name="Google Shape;97;p9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b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10"/>
          <p:cNvSpPr txBox="1"/>
          <p:nvPr>
            <p:ph idx="1" type="body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4" name="Google Shape;10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b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5" name="Google Shape;125;p11"/>
          <p:cNvSpPr txBox="1"/>
          <p:nvPr>
            <p:ph hasCustomPrompt="1"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7" name="Google Shape;12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b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bg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bg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bg" sz="3600"/>
              <a:t>Project Touch Grass -</a:t>
            </a:r>
            <a:endParaRPr sz="3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bg" sz="2000"/>
              <a:t>Основни технологии за тестване</a:t>
            </a:r>
            <a:endParaRPr sz="2000"/>
          </a:p>
        </p:txBody>
      </p:sp>
      <p:sp>
        <p:nvSpPr>
          <p:cNvPr id="135" name="Google Shape;135;p13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bg"/>
              <a:t>изготвил: Стоил Плачков (2201321033)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bg"/>
              <a:t>Екип</a:t>
            </a:r>
            <a:endParaRPr/>
          </a:p>
        </p:txBody>
      </p:sp>
      <p:sp>
        <p:nvSpPr>
          <p:cNvPr id="141" name="Google Shape;141;p1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bg" sz="1600"/>
              <a:t>Developer 1 - Никола Гочев</a:t>
            </a:r>
            <a:endParaRPr sz="1600"/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bg" sz="1600"/>
              <a:t>Developer 2 - Васил Чушев</a:t>
            </a:r>
            <a:endParaRPr sz="1600"/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bg" sz="1600"/>
              <a:t>QA - Стоил Плачков </a:t>
            </a:r>
            <a:endParaRPr sz="1600"/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bg" sz="1600"/>
              <a:t>Project Manager - Момчил Симеонов</a:t>
            </a:r>
            <a:endParaRPr sz="1600"/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bg" sz="1600"/>
              <a:t>Project Owner - Васил Николов</a:t>
            </a:r>
            <a:endParaRPr sz="16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bg">
                <a:latin typeface="Roboto"/>
                <a:ea typeface="Roboto"/>
                <a:cs typeface="Roboto"/>
                <a:sym typeface="Roboto"/>
              </a:rPr>
              <a:t>Функционалности</a:t>
            </a:r>
            <a:r>
              <a:rPr lang="bg">
                <a:latin typeface="Roboto"/>
                <a:ea typeface="Roboto"/>
                <a:cs typeface="Roboto"/>
                <a:sym typeface="Roboto"/>
              </a:rPr>
              <a:t> за тестване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7" name="Google Shape;147;p15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bg" sz="1800">
                <a:latin typeface="Roboto"/>
                <a:ea typeface="Roboto"/>
                <a:cs typeface="Roboto"/>
                <a:sym typeface="Roboto"/>
              </a:rPr>
              <a:t>1. Управление на потребители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  <a:p>
            <a:pPr indent="-297497" lvl="0" marL="457200" rtl="0" algn="l">
              <a:spcBef>
                <a:spcPts val="0"/>
              </a:spcBef>
              <a:spcAft>
                <a:spcPts val="0"/>
              </a:spcAft>
              <a:buSzPct val="100000"/>
              <a:buFont typeface="Roboto"/>
              <a:buChar char="●"/>
            </a:pPr>
            <a:r>
              <a:rPr lang="bg" sz="1400">
                <a:latin typeface="Roboto"/>
                <a:ea typeface="Roboto"/>
                <a:cs typeface="Roboto"/>
                <a:sym typeface="Roboto"/>
              </a:rPr>
              <a:t>Регистрация: Създаване на нов локален профил с уникално име.</a:t>
            </a:r>
            <a:endParaRPr sz="1400">
              <a:latin typeface="Roboto"/>
              <a:ea typeface="Roboto"/>
              <a:cs typeface="Roboto"/>
              <a:sym typeface="Roboto"/>
            </a:endParaRPr>
          </a:p>
          <a:p>
            <a:pPr indent="-297497" lvl="0" marL="457200" rtl="0" algn="l">
              <a:spcBef>
                <a:spcPts val="0"/>
              </a:spcBef>
              <a:spcAft>
                <a:spcPts val="0"/>
              </a:spcAft>
              <a:buSzPct val="100000"/>
              <a:buFont typeface="Roboto"/>
              <a:buChar char="●"/>
            </a:pPr>
            <a:r>
              <a:rPr lang="bg" sz="1400">
                <a:latin typeface="Roboto"/>
                <a:ea typeface="Roboto"/>
                <a:cs typeface="Roboto"/>
                <a:sym typeface="Roboto"/>
              </a:rPr>
              <a:t>Вход: Успешно влизане в системата със съществуващи данни.</a:t>
            </a:r>
            <a:endParaRPr sz="1400">
              <a:latin typeface="Roboto"/>
              <a:ea typeface="Roboto"/>
              <a:cs typeface="Roboto"/>
              <a:sym typeface="Roboto"/>
            </a:endParaRPr>
          </a:p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bg" sz="1800">
                <a:latin typeface="Roboto"/>
                <a:ea typeface="Roboto"/>
                <a:cs typeface="Roboto"/>
                <a:sym typeface="Roboto"/>
              </a:rPr>
              <a:t>2. Игрови механики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  <a:p>
            <a:pPr indent="-297497" lvl="0" marL="457200" rtl="0" algn="l">
              <a:spcBef>
                <a:spcPts val="0"/>
              </a:spcBef>
              <a:spcAft>
                <a:spcPts val="0"/>
              </a:spcAft>
              <a:buSzPct val="100000"/>
              <a:buFont typeface="Roboto"/>
              <a:buChar char="●"/>
            </a:pPr>
            <a:r>
              <a:rPr lang="bg" sz="1400">
                <a:latin typeface="Roboto"/>
                <a:ea typeface="Roboto"/>
                <a:cs typeface="Roboto"/>
                <a:sym typeface="Roboto"/>
              </a:rPr>
              <a:t>Система за мисии: Визуализиране на списъка с активни мисии и тяхното изпълнение.</a:t>
            </a:r>
            <a:endParaRPr sz="1400">
              <a:latin typeface="Roboto"/>
              <a:ea typeface="Roboto"/>
              <a:cs typeface="Roboto"/>
              <a:sym typeface="Roboto"/>
            </a:endParaRPr>
          </a:p>
          <a:p>
            <a:pPr indent="-297497" lvl="0" marL="457200" rtl="0" algn="l">
              <a:spcBef>
                <a:spcPts val="0"/>
              </a:spcBef>
              <a:spcAft>
                <a:spcPts val="0"/>
              </a:spcAft>
              <a:buSzPct val="100000"/>
              <a:buFont typeface="Roboto"/>
              <a:buChar char="●"/>
            </a:pPr>
            <a:r>
              <a:rPr lang="bg" sz="1400">
                <a:latin typeface="Roboto"/>
                <a:ea typeface="Roboto"/>
                <a:cs typeface="Roboto"/>
                <a:sym typeface="Roboto"/>
              </a:rPr>
              <a:t>Участие в събития: Въвеждане на уникални кодове за събития и получаване на XP (точки).</a:t>
            </a:r>
            <a:endParaRPr sz="1400">
              <a:latin typeface="Roboto"/>
              <a:ea typeface="Roboto"/>
              <a:cs typeface="Roboto"/>
              <a:sym typeface="Roboto"/>
            </a:endParaRPr>
          </a:p>
          <a:p>
            <a:pPr indent="-297497" lvl="0" marL="457200" rtl="0" algn="l">
              <a:spcBef>
                <a:spcPts val="0"/>
              </a:spcBef>
              <a:spcAft>
                <a:spcPts val="0"/>
              </a:spcAft>
              <a:buSzPct val="100000"/>
              <a:buFont typeface="Roboto"/>
              <a:buChar char="●"/>
            </a:pPr>
            <a:r>
              <a:rPr lang="bg" sz="1400">
                <a:latin typeface="Roboto"/>
                <a:ea typeface="Roboto"/>
                <a:cs typeface="Roboto"/>
                <a:sym typeface="Roboto"/>
              </a:rPr>
              <a:t>Прогрес: Коректно начисляване на точки и автоматично вдигане на ниво при достигане на прага.</a:t>
            </a:r>
            <a:endParaRPr sz="1400">
              <a:latin typeface="Roboto"/>
              <a:ea typeface="Roboto"/>
              <a:cs typeface="Roboto"/>
              <a:sym typeface="Roboto"/>
            </a:endParaRPr>
          </a:p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bg" sz="1800">
                <a:latin typeface="Roboto"/>
                <a:ea typeface="Roboto"/>
                <a:cs typeface="Roboto"/>
                <a:sym typeface="Roboto"/>
              </a:rPr>
              <a:t>3. Системни функции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  <a:p>
            <a:pPr indent="-297497" lvl="0" marL="457200" rtl="0" algn="l">
              <a:spcBef>
                <a:spcPts val="0"/>
              </a:spcBef>
              <a:spcAft>
                <a:spcPts val="0"/>
              </a:spcAft>
              <a:buSzPct val="100000"/>
              <a:buFont typeface="Roboto"/>
              <a:buChar char="●"/>
            </a:pPr>
            <a:r>
              <a:rPr lang="bg" sz="1400">
                <a:latin typeface="Roboto"/>
                <a:ea typeface="Roboto"/>
                <a:cs typeface="Roboto"/>
                <a:sym typeface="Roboto"/>
              </a:rPr>
              <a:t>Локално съхранение: Най-критичната функционалност – гарантиране, че XP, нивото и историята на мисиите се запазват след затваряне на приложението.</a:t>
            </a:r>
            <a:endParaRPr sz="1400">
              <a:latin typeface="Roboto"/>
              <a:ea typeface="Roboto"/>
              <a:cs typeface="Roboto"/>
              <a:sym typeface="Roboto"/>
            </a:endParaRPr>
          </a:p>
          <a:p>
            <a:pPr indent="-297497" lvl="0" marL="457200" rtl="0" algn="l">
              <a:spcBef>
                <a:spcPts val="0"/>
              </a:spcBef>
              <a:spcAft>
                <a:spcPts val="0"/>
              </a:spcAft>
              <a:buSzPct val="100000"/>
              <a:buFont typeface="Roboto"/>
              <a:buChar char="●"/>
            </a:pPr>
            <a:r>
              <a:rPr lang="bg" sz="1400">
                <a:latin typeface="Roboto"/>
                <a:ea typeface="Roboto"/>
                <a:cs typeface="Roboto"/>
                <a:sym typeface="Roboto"/>
              </a:rPr>
              <a:t>Потребителски интерфейс: Проверка за правилно оразмеряване и липса на сривове при навигация.</a:t>
            </a:r>
            <a:endParaRPr sz="1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